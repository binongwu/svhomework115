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Source Code Pro"/>
      <p:regular r:id="rId14"/>
      <p:bold r:id="rId15"/>
      <p:italic r:id="rId16"/>
      <p:boldItalic r:id="rId17"/>
    </p:embeddedFont>
    <p:embeddedFont>
      <p:font typeface="Oswald"/>
      <p:regular r:id="rId18"/>
      <p:bold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SourceCodePro-bold.fntdata"/><Relationship Id="rId14" Type="http://schemas.openxmlformats.org/officeDocument/2006/relationships/font" Target="fonts/SourceCodePro-regular.fntdata"/><Relationship Id="rId17" Type="http://schemas.openxmlformats.org/officeDocument/2006/relationships/font" Target="fonts/SourceCodePro-boldItalic.fntdata"/><Relationship Id="rId16" Type="http://schemas.openxmlformats.org/officeDocument/2006/relationships/font" Target="fonts/SourceCodePro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swald-bold.fntdata"/><Relationship Id="rId6" Type="http://schemas.openxmlformats.org/officeDocument/2006/relationships/slide" Target="slides/slide1.xml"/><Relationship Id="rId18" Type="http://schemas.openxmlformats.org/officeDocument/2006/relationships/font" Target="fonts/Oswald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e8a0bea56_0_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e8a0bea56_0_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e8a0bea56_0_10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e8a0bea56_0_10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e8a0bea56_0_10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e8a0bea56_0_10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e8a0bea56_0_10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e8a0bea56_0_10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be8a0bea56_0_10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be8a0bea56_0_10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be8a0bea56_0_10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be8a0bea56_0_10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be8a0bea56_0_10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be8a0bea56_0_10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>
    <mc:Choice Requires="p14">
      <p:transition spd="slow" p14:dur="2500">
        <p14:flip dir="l"/>
      </p:transition>
    </mc:Choice>
    <mc:Fallback>
      <p:transition spd="slow">
        <p:fade/>
      </p:transition>
    </mc:Fallback>
  </mc:AlternateConten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6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1.jpg"/><Relationship Id="rId5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一起玩彈珠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>
                <a:highlight>
                  <a:srgbClr val="FFF2CC"/>
                </a:highlight>
              </a:rPr>
              <a:t>手作彈珠台</a:t>
            </a:r>
            <a:endParaRPr>
              <a:highlight>
                <a:srgbClr val="FFF2CC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295950" y="186250"/>
            <a:ext cx="85521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材料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295950" y="1342500"/>
            <a:ext cx="4275900" cy="380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/>
              <a:t>1兩個長方形立體紙箱(形狀:隨意)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/>
              <a:t>2切割工具(例如:美工刀)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/>
              <a:t>3黏貼工具(例如:雙面膠)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2000"/>
              <a:t>4彈珠(數量:1-10顆)</a:t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4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39523" y="268250"/>
            <a:ext cx="3785950" cy="468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第一步</a:t>
            </a:r>
            <a:endParaRPr/>
          </a:p>
        </p:txBody>
      </p:sp>
      <p:sp>
        <p:nvSpPr>
          <p:cNvPr id="76" name="Google Shape;76;p15"/>
          <p:cNvSpPr txBox="1"/>
          <p:nvPr>
            <p:ph idx="1" type="body"/>
          </p:nvPr>
        </p:nvSpPr>
        <p:spPr>
          <a:xfrm>
            <a:off x="311700" y="1342600"/>
            <a:ext cx="3408900" cy="367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500"/>
              <a:t>把其中一個紙箱拆開，另一個千萬不能拆，因為它是要做成彈珠台的喔!</a:t>
            </a:r>
            <a:endParaRPr sz="2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500"/>
          </a:p>
        </p:txBody>
      </p:sp>
      <p:pic>
        <p:nvPicPr>
          <p:cNvPr id="77" name="Google Shape;77;p15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53350" y="1106000"/>
            <a:ext cx="3456398" cy="3911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push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第二步</a:t>
            </a:r>
            <a:endParaRPr/>
          </a:p>
        </p:txBody>
      </p:sp>
      <p:sp>
        <p:nvSpPr>
          <p:cNvPr id="83" name="Google Shape;83;p16"/>
          <p:cNvSpPr txBox="1"/>
          <p:nvPr>
            <p:ph idx="1" type="body"/>
          </p:nvPr>
        </p:nvSpPr>
        <p:spPr>
          <a:xfrm>
            <a:off x="196950" y="1423000"/>
            <a:ext cx="2915400" cy="372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500"/>
              <a:t>切割自己喜歡的大小，越多越刺激!</a:t>
            </a:r>
            <a:endParaRPr sz="2500"/>
          </a:p>
        </p:txBody>
      </p:sp>
      <p:pic>
        <p:nvPicPr>
          <p:cNvPr id="84" name="Google Shape;84;p16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575" y="692850"/>
            <a:ext cx="3157037" cy="430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fade thruBlk="1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第三部</a:t>
            </a:r>
            <a:endParaRPr/>
          </a:p>
        </p:txBody>
      </p:sp>
      <p:sp>
        <p:nvSpPr>
          <p:cNvPr id="90" name="Google Shape;90;p17"/>
          <p:cNvSpPr txBox="1"/>
          <p:nvPr>
            <p:ph idx="1" type="body"/>
          </p:nvPr>
        </p:nvSpPr>
        <p:spPr>
          <a:xfrm>
            <a:off x="311700" y="1468825"/>
            <a:ext cx="26973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500"/>
              <a:t>開始黏貼，把剛剛撿的黏在另一個紙板上。也可以加上一些正方形隔板，讓彈珠隨意滾動吧!</a:t>
            </a:r>
            <a:endParaRPr sz="2500"/>
          </a:p>
        </p:txBody>
      </p:sp>
      <p:pic>
        <p:nvPicPr>
          <p:cNvPr id="91" name="Google Shape;91;p17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2250" y="0"/>
            <a:ext cx="3531350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712250" y="2571750"/>
            <a:ext cx="3531350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:push dir="r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第四部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311700" y="1468825"/>
            <a:ext cx="2376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 sz="2500"/>
              <a:t>可以寫上分數讓遊戲更加有趣味性喔!</a:t>
            </a:r>
            <a:endParaRPr sz="2500"/>
          </a:p>
        </p:txBody>
      </p:sp>
      <p:pic>
        <p:nvPicPr>
          <p:cNvPr id="99" name="Google Shape;99;p18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7650" y="252475"/>
            <a:ext cx="3737900" cy="49838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14:prism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9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完成了!</a:t>
            </a:r>
            <a:endParaRPr/>
          </a:p>
        </p:txBody>
      </p:sp>
      <p:sp>
        <p:nvSpPr>
          <p:cNvPr id="105" name="Google Shape;105;p19"/>
          <p:cNvSpPr txBox="1"/>
          <p:nvPr>
            <p:ph idx="1" type="body"/>
          </p:nvPr>
        </p:nvSpPr>
        <p:spPr>
          <a:xfrm>
            <a:off x="3098438" y="3057175"/>
            <a:ext cx="3247800" cy="608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highlight>
                <a:schemeClr val="lt1"/>
              </a:highlight>
            </a:endParaRPr>
          </a:p>
        </p:txBody>
      </p:sp>
      <p:pic>
        <p:nvPicPr>
          <p:cNvPr id="106" name="Google Shape;106;p19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2375" y="1285925"/>
            <a:ext cx="2739975" cy="365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9" title="0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52350" y="1285925"/>
            <a:ext cx="2739975" cy="3653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9" title="0.jp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2325" y="1285925"/>
            <a:ext cx="2739975" cy="3653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slow" p14:dur="2500">
        <p14:flip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20"/>
          <p:cNvSpPr txBox="1"/>
          <p:nvPr>
            <p:ph type="title"/>
          </p:nvPr>
        </p:nvSpPr>
        <p:spPr>
          <a:xfrm>
            <a:off x="2833350" y="2046150"/>
            <a:ext cx="3477300" cy="105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6300"/>
              <a:t>謝謝大家</a:t>
            </a:r>
            <a:endParaRPr sz="6300"/>
          </a:p>
        </p:txBody>
      </p:sp>
      <p:sp>
        <p:nvSpPr>
          <p:cNvPr id="114" name="Google Shape;114;p20"/>
          <p:cNvSpPr txBox="1"/>
          <p:nvPr>
            <p:ph idx="1" type="body"/>
          </p:nvPr>
        </p:nvSpPr>
        <p:spPr>
          <a:xfrm>
            <a:off x="11558525" y="1354075"/>
            <a:ext cx="80610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2300"/>
          </a:p>
        </p:txBody>
      </p:sp>
    </p:spTree>
  </p:cSld>
  <p:clrMapOvr>
    <a:masterClrMapping/>
  </p:clrMapOvr>
  <mc:AlternateContent>
    <mc:Choice Requires="p14">
      <p:transition spd="slow" p14:dur="2500">
        <p14:gallery dir="l"/>
      </p:transition>
    </mc:Choice>
    <mc:Fallback>
      <p:transition spd="slow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